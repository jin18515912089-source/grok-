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 分钟。强调本次培训只讲公司现行政策中的动作，不要求员工做任何额外验证操作。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分钟。让员工把注意力放在“请求本身是否异常”，而不是只看发件人。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分钟。当场演示悬停看链接的动作（只悬停，不点击）。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分钟。这是“看起来像真的但仍危险”的核心页。强调回拨必须用已知号码。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分钟。目的是降低误报疲劳，同时强化“书签进入”的习惯。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分钟。只讲政策中存在的渠道：报告钓鱼按钮、IT 服务台 7000、已知号码回拨。不要添加其他举报渠道。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分钟。让学员举手选择，不要先公布答案。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分钟。逐题公布答案并解释理由，最后用三句话收尾。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15 分钟反钓鱼培训：收到可疑邮件时，只做三件事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信息安全培训 | 面向非技术员工 | 8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47120" cy="128016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不点链接 · 不开附件 · 不回复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然后：点“报告钓鱼”按钮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  <a:latin typeface="Microsoft YaHei"/>
              </a:rPr>
              <a:t>• 今天的目标：你能在 10 秒内判断“这封邮件我该怎么处理”，并且知道出了事怎么补救。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  <a:latin typeface="Microsoft YaHei"/>
              </a:rPr>
              <a:t>• 课程结构：识别信号 → 三个真实感很强的例子 → 一个“看起来危险但其实正常”的例子 → 公司规定的处理动作 → 两道互动题。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  <a:latin typeface="Microsoft YaHei"/>
              </a:rPr>
              <a:t>• 记住一句话：IT 永远不会通过邮件索取密码或 MFA 验证码。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钓鱼邮件的五个信号：出现任意一个，就停下来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信号不等于定罪，但足以让你先不点、先报告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02920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信号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常见表现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为什么危险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制造紧迫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“30 分钟内停用”“今天必须付款”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让你来不及核实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发件人细节可疑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域名多一个字母、大小写混淆（如 I 与 l）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肉眼极难分辨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链接与显示不一致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链接文字是公司域名，悬停显示陌生短链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真正的目的地被隐藏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异常的请求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改银行账户、买礼品卡、回复卡号、要验证码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正常流程不会这样做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要求保密或绕过流程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“别告诉别人”“先付再补流程”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阻止你走正常核实渠道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>
                <a:solidFill>
                  <a:srgbClr val="262626"/>
                </a:solidFill>
                <a:latin typeface="Microsoft YaHei"/>
              </a:rPr>
              <a:t>注意：语气正常、发件人熟悉、附件是 PDF，都不能证明邮件安全（见第 4 页）。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例子 1：伪装 IT 的“邮箱即将停用”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看起来像 IT，其实是假域名 + 隐藏链接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6583680" cy="21945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>
                <a:solidFill>
                  <a:srgbClr val="262626"/>
                </a:solidFill>
                <a:latin typeface="Microsoft YaHei"/>
              </a:rPr>
              <a:t>发件人：it-support@novacIoud.com（注意：cloud 中的小写 l 被换成大写 I）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主题：邮箱将在 30 分钟内停用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正文：请立即点击以下链接验证账户……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链接文字显示为公司域名，鼠标悬停却显示一个陌生短链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4592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  <a:latin typeface="Microsoft YaHei"/>
              </a:rPr>
              <a:t>• 命中信号：制造紧迫 + 发件人细节可疑 + 链接与显示不一致。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  <a:latin typeface="Microsoft YaHei"/>
              </a:rPr>
              <a:t>• 正确动作：不点链接、不回复；点邮件客户端的“报告钓鱼”按钮。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  <a:latin typeface="Microsoft YaHei"/>
              </a:rPr>
              <a:t>• 如果已经点了并输入了密码：立即致电 IT 服务台 7000 并重置密码。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62626"/>
                </a:solidFill>
                <a:latin typeface="Microsoft YaHei"/>
              </a:rPr>
              <a:t>• 不要做：不要自己转发给同事“帮忙看看”，也不要点链接去“验证一下”。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C00000"/>
                </a:solidFill>
                <a:latin typeface="Microsoft YaHei"/>
              </a:rPr>
              <a:t>判定：钓鱼。危险等级：高（窃取账号密码）。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例子 2 与例子 4：看起来像真的，但仍然危险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熟悉的发件人、正常的语气，不代表安全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62626"/>
                </a:solidFill>
                <a:latin typeface="Microsoft YaHei"/>
              </a:rPr>
              <a:t>例子 2：长期合作供应商，从平时正常的邮箱发来“新银行账户通知”，要求今天付款。语气正常，附件是 PDF。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为什么危险：供应商邮箱可能已被入侵；“改账户 + 当天付款”是典型付款欺诈组合。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正确动作：不开附件、不回复；点“报告钓鱼”；同时用你已知的电话号码回拨该供应商联系人核实（不要用邮件里给的号码）。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判定：高风险，按付款请求核实流程处理。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48640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62626"/>
                </a:solidFill>
                <a:latin typeface="Microsoft YaHei"/>
              </a:rPr>
              <a:t>例子 4：“CEO”称正在出差，要求你购买礼品卡并把卡号回复到邮件里，强调保密。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10896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为什么危险：异常请求（礼品卡 + 回复卡号）+ 要求保密 + 制造紧迫，三个信号同时出现。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正确动作：不回复；点“报告钓鱼”；这是付款类请求，用已知号码电话核实请求人。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判定：钓鱼（高管冒充）。任何真实的高管请求都经得起一个电话核实。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例子 3：正常的系统通知长什么样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学会放过正常邮件，才能把注意力留给真正的威胁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124712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>
                <a:solidFill>
                  <a:srgbClr val="262626"/>
                </a:solidFill>
                <a:latin typeface="Microsoft YaHei"/>
              </a:rPr>
              <a:t>例子 3：HR 系统按常规发送“请查看本月工资单”通知。域名、链接和登录页都与你收藏的书签一致，没有索取验证码或密码。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017520"/>
          <a:ext cx="67665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011680"/>
              </a:tblGrid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检查项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例子 3 的情况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发件人域名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与公司 HR 系统一致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正常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链接与登录页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与书签一致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正常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是否索取密码/验证码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正常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是否制造紧迫或要求保密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正常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请求是否符合常规流程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月度工资单查看属常规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正常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301752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判定：正常邮件，可以按平时方式查看。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更稳妥的习惯：从书签或直接输入网址进入系统，而不是点邮件链接。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如果同样内容出现了“请输入验证码确认身份”，则不再正常——IT 永远不会通过邮件索取密码或 MFA 验证码。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公司规定的处理动作：只有这些，没有别的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来源：公司可疑邮件处理政策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754880"/>
                <a:gridCol w="3566160"/>
              </a:tblGrid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情形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你要做的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你不要做的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任何可疑邮件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不点链接、不开附件、不回复；点邮件客户端“报告钓鱼”按钮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转发给同事或自己判断后删除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已经输入了密码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立即致电 IT 服务台 7000，并重置密码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等等看、只改一个系统的密码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涉及付款请求（改账户、买卡、转账）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同时用你已知的电话号码回拨请求人核实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用邮件里提供的电话或直接回复邮件确认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邮件索取密码或 MFA 验证码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视为钓鱼并报告——IT 永远不会通过邮件索取这些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Microsoft YaHei"/>
                        </a:rPr>
                        <a:t>输入或回复任何验证码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记忆口诀：停（不点不开不回）→ 报（报告钓鱼按钮）→ 打（涉及密码打 7000，涉及付款回拨已知号码）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互动题（2 道）：先自己选，答案在下一页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每题 1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4206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>
                <a:solidFill>
                  <a:srgbClr val="262626"/>
                </a:solidFill>
                <a:latin typeface="Microsoft YaHei"/>
              </a:rPr>
              <a:t>问题 1：你收到财务总监的邮件，要求今天把一笔货款改付到供应商“新账户”，附件是加盖公章的 PDF 通知。发件人地址看起来完全正常。你应该：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A. 先付款，避免供应商断供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B. 回复邮件请财务总监确认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C. 不开附件、不回复，点“报告钓鱼”，并用你已知的电话号码回拨财务总监和供应商核实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D. 转发给同事帮忙判断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486400" cy="420624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>
                <a:solidFill>
                  <a:srgbClr val="262626"/>
                </a:solidFill>
                <a:latin typeface="Microsoft YaHei"/>
              </a:rPr>
              <a:t>问题 2：你点了一个“邮箱即将停用”的链接并输入了密码，页面随后跳转到公司登录页，看起来一切正常。你应该：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/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A. 没事，登录成功了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B. 立即致电 IT 服务台 7000 并重置密码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C. 只把邮箱密码改掉就行</a:t>
            </a:r>
          </a:p>
          <a:p>
            <a:r>
              <a:rPr sz="1400" b="0">
                <a:solidFill>
                  <a:srgbClr val="262626"/>
                </a:solidFill>
                <a:latin typeface="Microsoft YaHei"/>
              </a:rPr>
              <a:t>D. 等 IT 主动联系你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答案与总结：停 → 报 → 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两道题的正确答案与理由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2743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62626"/>
                </a:solidFill>
                <a:latin typeface="Microsoft YaHei"/>
              </a:rPr>
              <a:t>问题 1 答案：C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理由：“改账户 + 当天付款”是付款欺诈组合，即使发件人地址正常，邮箱也可能已被入侵。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B 回复邮件可能直接回到攻击者手里；D 违反“不要自行转发”的规定。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涉及付款请求：用你已知的电话号码回拨核实，不用邮件里的号码。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486400" cy="2743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62626"/>
                </a:solidFill>
                <a:latin typeface="Microsoft YaHei"/>
              </a:rPr>
              <a:t>问题 2 答案：B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理由：密码已经泄露，“跳转到正常登录页”正是钓鱼页面的设计。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政策要求：立即致电 IT 服务台 7000 并重置密码。</a:t>
            </a:r>
          </a:p>
          <a:p>
            <a:r>
              <a:rPr sz="1300" b="0">
                <a:solidFill>
                  <a:srgbClr val="262626"/>
                </a:solidFill>
                <a:latin typeface="Microsoft YaHei"/>
              </a:rPr>
              <a:t>C 不够——同一密码可能用于多个系统；D 会延误处置。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带走三句话</a:t>
            </a:r>
          </a:p>
          <a:p>
            <a:r>
              <a:rPr sz="1400" b="1">
                <a:solidFill>
                  <a:srgbClr val="FFFFFF"/>
                </a:solidFill>
                <a:latin typeface="Microsoft YaHei"/>
              </a:rPr>
              <a:t>1. 停：不点链接、不开附件、不回复。</a:t>
            </a:r>
          </a:p>
          <a:p>
            <a:r>
              <a:rPr sz="1400" b="1">
                <a:solidFill>
                  <a:srgbClr val="FFFFFF"/>
                </a:solidFill>
                <a:latin typeface="Microsoft YaHei"/>
              </a:rPr>
              <a:t>2. 报：点邮件客户端的“报告钓鱼”按钮。</a:t>
            </a:r>
          </a:p>
          <a:p>
            <a:r>
              <a:rPr sz="1400" b="1">
                <a:solidFill>
                  <a:srgbClr val="FFFFFF"/>
                </a:solidFill>
                <a:latin typeface="Microsoft YaHei"/>
              </a:rPr>
              <a:t>3. 打：输过密码→致电 7000 重置；涉及付款→用已知号码回拨核实。</a:t>
            </a:r>
          </a:p>
          <a:p>
            <a:r>
              <a:rPr sz="1400" b="1">
                <a:solidFill>
                  <a:srgbClr val="FFFFFF"/>
                </a:solidFill>
                <a:latin typeface="Microsoft YaHei"/>
              </a:rPr>
              <a:t>IT 永远不会通过邮件索取密码或 MFA 验证码。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