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ARR（$m）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Q2 LY</c:v>
                </c:pt>
                <c:pt idx="1">
                  <c:v>Q1</c:v>
                </c:pt>
                <c:pt idx="2">
                  <c:v>Q2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110</c:v>
                </c:pt>
                <c:pt idx="2">
                  <c:v>120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NRR 与毛利率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NRR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Q2 LY</c:v>
                </c:pt>
                <c:pt idx="1">
                  <c:v>Q1</c:v>
                </c:pt>
                <c:pt idx="2">
                  <c:v>Q2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1.12</c:v>
                </c:pt>
                <c:pt idx="1">
                  <c:v>1.1</c:v>
                </c:pt>
                <c:pt idx="2">
                  <c:v>1.04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E69B00"/>
            </a:solidFill>
          </c:spPr>
          <c:cat>
            <c:strRef>
              <c:f>Sheet1!$A$2:$A$4</c:f>
              <c:strCache>
                <c:ptCount val="3"/>
                <c:pt idx="0">
                  <c:v>Q2 LY</c:v>
                </c:pt>
                <c:pt idx="1">
                  <c:v>Q1</c:v>
                </c:pt>
                <c:pt idx="2">
                  <c:v>Q2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</c:v>
                </c:pt>
                <c:pt idx="1">
                  <c:v>0.72</c:v>
                </c:pt>
                <c:pt idx="2">
                  <c:v>0.68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2"/>
          <c:min val="0.6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最近 10 个流失访谈提到的原因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流失访谈提及次数（共 10）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价格</c:v>
                </c:pt>
                <c:pt idx="1">
                  <c:v>AI 摘要准确性</c:v>
                </c:pt>
                <c:pt idx="2">
                  <c:v>上线慢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b"/>
        <c:majorGridlines/>
        <c:numFmt formatCode="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提价 8% 后的净 ARR 变化 vs 额外流失率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净 ARR 变化 ($m)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2%</c:v>
                </c:pt>
                <c:pt idx="2">
                  <c:v>4%</c:v>
                </c:pt>
                <c:pt idx="3">
                  <c:v>6%</c:v>
                </c:pt>
                <c:pt idx="4">
                  <c:v>7.4%</c:v>
                </c:pt>
                <c:pt idx="5">
                  <c:v>10%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9.6</c:v>
                </c:pt>
                <c:pt idx="1">
                  <c:v>7.0</c:v>
                </c:pt>
                <c:pt idx="2">
                  <c:v>4.4</c:v>
                </c:pt>
                <c:pt idx="3">
                  <c:v>1.8</c:v>
                </c:pt>
                <c:pt idx="4">
                  <c:v>-0.0</c:v>
                </c:pt>
                <c:pt idx="5">
                  <c:v>-3.4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-4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所有数字与 XLSX 附录 KPI / Calculations 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折线图纵轴 60%–120%，用于显示比例指标的变化，非从 0 起；柱形图从 0 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访谈样本 10 个，比例仅作方向性判断。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跑道测算：28/3.03=9.24；(28−0.25)/3.03=9.16。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情景表与 XLSX Decision Scenarios 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Q2 董事会材料：增长仍在，但留存与现金正在收窄——请董事会决定三件事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CEO 办公室 | 金额单位：百万美元 | 事实 / 管理层判断 / 建议分别标注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6400800" cy="20116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决定 1：批准增加 2 名上线经理（年成本 0.36）</a:t>
            </a:r>
          </a:p>
          <a:p>
            <a:r>
              <a:rPr sz="1500" b="1">
                <a:solidFill>
                  <a:srgbClr val="FFFFFF"/>
                </a:solidFill>
                <a:latin typeface="Microsoft YaHei"/>
              </a:rPr>
              <a:t>决定 2：批准高级 SLA 产品化的一次性工程投入 0.25，定价与合同承诺待 Q4</a:t>
            </a:r>
          </a:p>
          <a:p>
            <a:r>
              <a:rPr sz="1500" b="1">
                <a:solidFill>
                  <a:srgbClr val="FFFFFF"/>
                </a:solidFill>
                <a:latin typeface="Microsoft YaHei"/>
              </a:rPr>
              <a:t>决定 3：不批准全体提价 8%；改为续约时的定向提价测试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事实：ARR 120（QoQ +9.1%，YoY +26.3%）；NRR 104%（−6pp QoQ）；Logo Churn 2.8%（Q1 1.9%）；新客 40（Q1 55）；毛利率 68%（−4pp）。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事实：现金 28、月烧钱 3.0 → 简单口径跑道 9.3 个月（Q1 12.4、去年同期 16.4）。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管理层判断：流失访谈 10 个中 6 个提到上线慢、3 个提到 AI 摘要准确性、1 个提到价格——留存问题主要在交付与产品，不在价格。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建议：把有限现金投向直接对应流失原因的两项（上线、SLA），拒绝无弹性分析支撑的全体提价。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6400800" cy="14630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0">
                <a:solidFill>
                  <a:srgbClr val="262626"/>
                </a:solidFill>
                <a:latin typeface="Microsoft YaHei"/>
              </a:rPr>
              <a:t>另两项非决定但需董事会知悉：① AI 模块不承诺上线日期（离线准确率 88% &lt; 门槛 92%；销售材料中的 8 月 15 日从未获产品批准，已要求撤回）；② 法务发现续约通知 30 天不符合两个地区 60 天要求，须在下轮续约前修正。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经营 KPI：规模增长，质量下滑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事实（来源：I50-A）；变化为测算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766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1005840"/>
                <a:gridCol w="1051560"/>
                <a:gridCol w="1051560"/>
              </a:tblGrid>
              <a:tr h="447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Q2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Q1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Q2 LY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QoQ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YoY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ARR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+26.3%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NRR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104%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−4pp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−2pp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Logo Churn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+0.9pp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+1.1pp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New Logos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Cash ($m)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−9.7%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−22.2%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Monthly Burn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+36.4%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跑道（月，测算）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9.3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12.4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16.4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−3.1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−7.1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06640" y="1645920"/>
          <a:ext cx="438912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06640" y="4023360"/>
          <a:ext cx="438912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76072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Microsoft YaHei"/>
              </a:rPr>
              <a:t>判断：ARR 增长由存量为主（NRR 104% 意味着净扩张仅 4%）；新客与留存同时走弱，若趋势延续，Q3 ARR 增速将进一步放缓。毛利率 −4pp 的原因未知，需 CFO 拆分。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客户信号：流失原因集中在上线与产品，价格只占 1/10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事实（来源：I50-B、I50-C）与管理层判断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5029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0" y="1645920"/>
          <a:ext cx="6126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  <a:gridCol w="210312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信号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事实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管理层判断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高级 SLA 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 家企业客户要求 99.95%（当前标准 99.9%），其中 2 家愿付费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存在付费意愿，但样本小；定价未定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上线慢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6/10 流失访谈提及；平均上线期 10 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最大可干预的流失因素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AI 准确性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3/10 提及；离线准确率 88%，门槛 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未达门槛前上线会加剧此类流失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价格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1/10 提及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不是主要流失原因；提价缺乏弹性数据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续约合规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通知 30 天 vs 两地区要求 60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法务风险，须在下轮续约前修正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结论：三项决定的排序应与流失原因权重一致——先上线（6/10），再 SLA/产品（3/10 + 5 家需求），价格最后（1/10）。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决定 1 与决定 2：投向流失原因的两项投入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建议：均批准，附条件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663440"/>
              </a:tblGrid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决定 1：增加 2 名上线经理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决定 2：高级 SLA 产品化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投入（事实）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年成本 0.36（月 0.03）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一次性工程 0.25；最早 Q4 上线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预期效果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平均上线期 10 周→7 周（−30%）；基于过去项目估计，未经试点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满足 5 家客户的 99.95% 需求，其中 2 家愿付费；定价未定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对应流失原因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6/10 访谈提到上线慢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SLA 需求 + 企业客户留存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现金影响（测算）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月烧钱 3.0→3.03；跑道 9.3→9.2 个月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现金 28→27.75；两项合计后跑道约 9.2 个月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盈亏平衡（测算）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每年挽回 ≥0.36 ARR（占 Q2 ARR 0.3%）即打平（ARR 口径）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取决于定价；在定价确定前不做收入预测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建议条件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两季度试点：上线期与新客 90 天留存为考核指标；未达 8 周则复议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先批工程投入；Q3 末前确定定价；Q4 上线前不在任何合同中承诺 99.95%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Microsoft YaHei"/>
              </a:rPr>
              <a:t>两项合计对跑道的影响约 −0.2 个月，远小于其对应的流失敞口；但两项均基于未经试点的估计，故设置条件与复议点。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决定 3：不批准全体提价 8%，改为定向提价测试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理论增量 9.6 vs 流失弹性（测算）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6035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事实：销售建议全体提价 8%，理论年化毛增量 9.6（=120×8%），但未提供流失弹性分析，也未考虑折扣与实施时点。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测算：额外流失率达到 7.4% 时净增量归零（1.08×(1−c)=1）；Q2 Logo Churn 已从 1.9% 升至 2.8%，NRR 已降至 104%，提价触发的额外流失并非小概率。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判断：价格只在 1/10 流失访谈中被提及，提价并不解决当前的留存问题，却会放大它。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建议：① 不批准全体提价；② 在续约客户中选取一组（如 10–15% 的续约 ARR）做 5–8% 的定向提价测试，同时满足 60 天通知；③ Q4 以测试结果决定是否扩大。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前提：续约通知流程先修正为 ≥60 天，否则任何提价通知都存在合规风险。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风险、合规与下一步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非决定事项与治理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  <a:gridCol w="3840480"/>
                <a:gridCol w="228600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事项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事实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管理层动作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对董事会的请求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AI 模块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内部目标 9 月 15 日；销售材料曾写 8 月 15 日（未获产品批准）；离线准确率 88%，门槛 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撤回销售材料中的日期；不对外承诺任何上线日期；每两周向董事会更新准确率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知悉；不要求承诺日期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续约通知合规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现行 30 天；两个地区政策要求 ≥60 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法务与运营在下轮续约前将通知流程改为 ≥60 天；核对已发出通知的客户清单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知悉；Q3 末汇报完成情况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现金跑道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9.3 个月（简单口径）；三项决定后约 9.2 个月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CFO 在 30 天内提交融资或成本方案，使跑道回到 ≥12 个月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下次会议讨论融资选项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毛利率 −4pp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原因未知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CFO 拆分成本结构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下次会议汇报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决定汇总：① 批准 2 名上线经理（附两季度试点指标）；② 批准 SLA 工程投入 0.25（定价 Q3 末、承诺待 Q4）；③ 不批准全体提价，改为定向测试。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口径声明：所有自算数字（增长率、跑道、情景）标为测算并可在 XLSX 附录中追踪；事实、管理层判断与建议在各页分列。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