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区域收入 Q1 vs Q2（百万元，纵轴从 0 起）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595959"/>
            </a:solidFill>
          </c:spPr>
          <c:cat>
            <c:strRef>
              <c:f>Sheet1!$A$2:$A$5</c:f>
              <c:strCache>
                <c:ptCount val="4"/>
                <c:pt idx="0">
                  <c:v>北美</c:v>
                </c:pt>
                <c:pt idx="1">
                  <c:v>欧洲</c:v>
                </c:pt>
                <c:pt idx="2">
                  <c:v>亚太</c:v>
                </c:pt>
                <c:pt idx="3">
                  <c:v>拉美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12.0</c:v>
                </c:pt>
                <c:pt idx="1">
                  <c:v>8.0</c:v>
                </c:pt>
                <c:pt idx="2">
                  <c:v>6.0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Sheet1!$A$2:$A$5</c:f>
              <c:strCache>
                <c:ptCount val="4"/>
                <c:pt idx="0">
                  <c:v>北美</c:v>
                </c:pt>
                <c:pt idx="1">
                  <c:v>欧洲</c:v>
                </c:pt>
                <c:pt idx="2">
                  <c:v>亚太</c:v>
                </c:pt>
                <c:pt idx="3">
                  <c:v>拉美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14.4</c:v>
                </c:pt>
                <c:pt idx="1">
                  <c:v>8.4</c:v>
                </c:pt>
                <c:pt idx="2">
                  <c:v>5.4</c:v>
                </c:pt>
                <c:pt idx="3">
                  <c:v>2.8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  <c:min val="0.0"/>
        </c:scaling>
        <c:delete val="0"/>
        <c:axPos val="l"/>
        <c:majorGridlines/>
        <c:numFmt formatCode="0.0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产品收入 Q1 vs Q2（条形图，横轴从 0 起）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 收入</c:v>
                </c:pt>
              </c:strCache>
            </c:strRef>
          </c:tx>
          <c:spPr>
            <a:solidFill>
              <a:srgbClr val="595959"/>
            </a:solidFill>
          </c:spPr>
          <c:cat>
            <c:strRef>
              <c:f>Sheet1!$A$2:$A$4</c:f>
              <c:strCache>
                <c:ptCount val="3"/>
                <c:pt idx="0">
                  <c:v>Core</c:v>
                </c:pt>
                <c:pt idx="1">
                  <c:v>Growth</c:v>
                </c:pt>
                <c:pt idx="2">
                  <c:v>Legacy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15.0</c:v>
                </c:pt>
                <c:pt idx="1">
                  <c:v>7.0</c:v>
                </c:pt>
                <c:pt idx="2">
                  <c:v>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 收入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Sheet1!$A$2:$A$4</c:f>
              <c:strCache>
                <c:ptCount val="3"/>
                <c:pt idx="0">
                  <c:v>Core</c:v>
                </c:pt>
                <c:pt idx="1">
                  <c:v>Growth</c:v>
                </c:pt>
                <c:pt idx="2">
                  <c:v>Legacy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18.0</c:v>
                </c:pt>
                <c:pt idx="1">
                  <c:v>8.0</c:v>
                </c:pt>
                <c:pt idx="2">
                  <c:v>5.0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b"/>
        <c:majorGridlines/>
        <c:numFmt formatCode="0.0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Microsoft Ya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/>
              <a:t>Q2 毛利额构成（合计 16.25）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Q2 毛利贡献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Core</c:v>
                </c:pt>
                <c:pt idx="1">
                  <c:v>Growth</c:v>
                </c:pt>
                <c:pt idx="2">
                  <c:v>Legacy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11.16</c:v>
                </c:pt>
                <c:pt idx="1">
                  <c:v>3.84</c:v>
                </c:pt>
                <c:pt idx="2">
                  <c:v>1.25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100">
          <a:latin typeface="Microsoft YaHe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Q3 区域目标（合计 33.5）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Q2 实际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Sheet1!$A$2:$A$5</c:f>
              <c:strCache>
                <c:ptCount val="4"/>
                <c:pt idx="0">
                  <c:v>北美</c:v>
                </c:pt>
                <c:pt idx="1">
                  <c:v>欧洲</c:v>
                </c:pt>
                <c:pt idx="2">
                  <c:v>亚太</c:v>
                </c:pt>
                <c:pt idx="3">
                  <c:v>拉美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14.4</c:v>
                </c:pt>
                <c:pt idx="1">
                  <c:v>8.4</c:v>
                </c:pt>
                <c:pt idx="2">
                  <c:v>5.4</c:v>
                </c:pt>
                <c:pt idx="3">
                  <c:v>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目标</c:v>
                </c:pt>
              </c:strCache>
            </c:strRef>
          </c:tx>
          <c:spPr>
            <a:solidFill>
              <a:srgbClr val="388E3C"/>
            </a:solidFill>
          </c:spPr>
          <c:cat>
            <c:strRef>
              <c:f>Sheet1!$A$2:$A$5</c:f>
              <c:strCache>
                <c:ptCount val="4"/>
                <c:pt idx="0">
                  <c:v>北美</c:v>
                </c:pt>
                <c:pt idx="1">
                  <c:v>欧洲</c:v>
                </c:pt>
                <c:pt idx="2">
                  <c:v>亚太</c:v>
                </c:pt>
                <c:pt idx="3">
                  <c:v>拉美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15.5</c:v>
                </c:pt>
                <c:pt idx="1">
                  <c:v>8.9</c:v>
                </c:pt>
                <c:pt idx="2">
                  <c:v>6.0</c:v>
                </c:pt>
                <c:pt idx="3">
                  <c:v>3.1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.0"/>
          <c:min val="0.0"/>
        </c:scaling>
        <c:delete val="0"/>
        <c:axPos val="l"/>
        <c:majorGridlines/>
        <c:numFmt formatCode="0.0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9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讲者备注：先给结论。所有毛利率均为按产品收入加权的测算值；题内未提供 Q1 各产品毛利率，Q1 综合毛利率为假设产品毛利率不变下的测算。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图表为簇状柱形图，纵轴从 0 开始，无截断。增量贡献 = 区域增量 / 总增量 3.0。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毛利额 = 收入 × 毛利率。Q1 综合毛利率为假设各产品毛利率与 Q2 相同的测算，题内未给出 Q1 毛利率。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Growth 每增 1.0 对综合毛利率的影响为线性近似：(48%−52.4%)/32≈−0.13pp。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区域目标与产品目标分别相加均为 33.5，二者相互独立设定，仅在总量上勾稽。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Q2 区域业务回顾：增长来自北美与拉美，质量受亚太与 Legacy 拖累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销售运营 | 受众：区域销售负责人 | 金额单位：百万元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566160" cy="11887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总收入 31.0</a:t>
            </a:r>
          </a:p>
          <a:p>
            <a:r>
              <a:rPr sz="1600" b="1">
                <a:solidFill>
                  <a:srgbClr val="FFFFFF"/>
                </a:solidFill>
                <a:latin typeface="Microsoft YaHei"/>
              </a:rPr>
              <a:t>Q1 28.0 → Q2 31.0（+10.7%）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737360"/>
            <a:ext cx="3566160" cy="1188720"/>
          </a:xfrm>
          <a:prstGeom prst="rect">
            <a:avLst/>
          </a:prstGeom>
          <a:solidFill>
            <a:srgbClr val="E69B00"/>
          </a:solidFill>
          <a:ln>
            <a:solidFill>
              <a:srgbClr val="E69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综合毛利率 52.4%（测算）</a:t>
            </a:r>
          </a:p>
          <a:p>
            <a:r>
              <a:rPr sz="1600" b="1">
                <a:solidFill>
                  <a:srgbClr val="FFFFFF"/>
                </a:solidFill>
                <a:latin typeface="Microsoft YaHei"/>
              </a:rPr>
              <a:t>高于 52% 下限仅 0.4pp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737360"/>
            <a:ext cx="3566160" cy="1188720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Q3 目标 ≥33.5</a:t>
            </a:r>
          </a:p>
          <a:p>
            <a:r>
              <a:rPr sz="1600" b="1">
                <a:solidFill>
                  <a:srgbClr val="FFFFFF"/>
                </a:solidFill>
                <a:latin typeface="Microsoft YaHei"/>
              </a:rPr>
              <a:t>环比 ≥8% 且毛利率 ≥52%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  <a:latin typeface="Microsoft YaHei"/>
              </a:rPr>
              <a:t>• 增长来自哪里：环比 +3.0 中，北美贡献 +2.4（80%），拉美 +0.8；欧洲 +0.4；亚太 −0.6 抵消部分增长。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  <a:latin typeface="Microsoft YaHei"/>
              </a:rPr>
              <a:t>• 质量如何：北美增长集中于两个渠道伙伴；亚太因日本渠道更换流失 1.1；Legacy（毛利率 25%）仍占收入 16%，拖低综合毛利率。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  <a:latin typeface="Microsoft YaHei"/>
              </a:rPr>
              <a:t>• 下季度优先级：① 北美渠道去集中化 ② 亚太日本渠道恢复 ③ Legacy 客户迁移至 Core ④ Growth 产品毛利改善。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62626"/>
                </a:solidFill>
                <a:latin typeface="Microsoft YaHei"/>
              </a:rPr>
              <a:t>• 结论：Q3 目标 33.5 可达，但必须以 Core 为主要增量来源，否则毛利率下限有被击穿风险。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区域趋势：北美与拉美驱动增长，亚太下滑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Q1 vs Q2 区域收入（百万元）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554480"/>
          <a:ext cx="658368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23760" y="1645920"/>
          <a:ext cx="4572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48640"/>
                <a:gridCol w="548640"/>
                <a:gridCol w="731520"/>
                <a:gridCol w="914400"/>
                <a:gridCol w="1188720"/>
              </a:tblGrid>
              <a:tr h="487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区域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Q1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Q2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环比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增量贡献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备注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北美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+20.0%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+2.4（80%）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主要来自两个渠道伙伴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欧洲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8.0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8.4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+5.0%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+0.4（13%）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稳定低增长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亚太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−10.0%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−0.6（−20%）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日本渠道更换流失 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拉美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2.0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2.8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+40.0%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+0.8（27%）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小基数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28.0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31.0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+10.7%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+3.0（100%）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223760" y="4754880"/>
            <a:ext cx="4572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Microsoft YaHei"/>
              </a:rPr>
              <a:t>解读：若剔除日本渠道更换造成的 1.1 流失，亚太 Q2 应为 6.5（+8.3%）——亚太问题是渠道事件而非需求萎缩（推断，待渠道恢复数据验证）。北美 +20% 的可持续性取决于两个伙伴的续约与拓展。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产品组合与毛利：Core 是唯一同时带来增长与毛利的产品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Q2 产品收入、毛利率与毛利贡献（百万元）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554480"/>
          <a:ext cx="566928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4297680"/>
          <a:ext cx="566928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64592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产品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Q1 收入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Q2 收入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环比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毛利率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Q2 毛利额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收入占比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毛利占比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+20.0%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11.16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58.1%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68.7%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Growth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7.0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8.0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+14.3%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48%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3.84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25.8%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23.6%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Legacy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−16.7%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28.0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31.0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+10.7%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52.4%（测算）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16.25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420624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综合毛利率 52.4% = 16.25 / 31.0，仅高于 52% 下限 0.4pp。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Legacy 占收入 16% 但只贡献 7.7% 毛利；按计划停止新增销售将自然改善毛利率。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Growth 毛利率 48% 低于下限：其增长会稀释毛利率，需配合定价或成本动作。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若产品毛利率不变，Q1 综合毛利率测算为 50.6%，Q2 改善 +1.8pp 来自组合向 Core 倾斜。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问题诊断：四个结构性问题决定 Q3 能否既增长又守住毛利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问题—证据—影响—判断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3291840"/>
                <a:gridCol w="2834640"/>
              </a:tblGrid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问题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证据（事实）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对 Q3 的影响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判断（推断）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北美渠道集中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Q2 +2.4 增量主要来自两个渠道伙伴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任一伙伴波动即可抹去区域增长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高优先级：需第三渠道与直销补位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亚太渠道断档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日本渠道更换期间流失 1.1，区域 −10%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若 Q3 未恢复，需其他区域多补 0.6–1.1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中高：属可修复事件，恢复速度是关键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Legacy 毛利拖累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毛利率 25%，收入 5.0，占毛利 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Legacy 每减 1.0 收入需 Core 增 0.4 即可保住毛利额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中：停售新增后需主动迁移存量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Growth 毛利率低于下限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48% &lt; 52%，且 Q2 增速 +14.3%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Growth 每增 1.0 收入使综合毛利率降约 0.13pp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中：应审视定价与交付成本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0">
                <a:solidFill>
                  <a:srgbClr val="262626"/>
                </a:solidFill>
                <a:latin typeface="Microsoft YaHei"/>
              </a:rPr>
              <a:t>Q3 目标的算术约束：收入 ≥31.0×1.08=33.48；若 Legacy 降至 3.8、Growth 8.7，则 Core 需达 21.0（+16.7%）。此时综合毛利率测算 =(21.0×62%+8.7×48%+3.8×25%)/33.5 = 54.2%，满足 ≥52%。反之若增量全部来自 Growth（8.0→10.5），综合毛利率降至约 52.1%，几乎无余量。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Q3 行动计划：以 Core 为增量主体，四条行动线与量化目标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目标：收入 ≥33.5（+8%）、综合毛利率 ≥52%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4206240"/>
                <a:gridCol w="1828800"/>
                <a:gridCol w="2743200"/>
                <a:gridCol w="210312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行动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Q3 量化目标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里程碑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北美渠道去集中化：签约第 3 家渠道伙伴，直销覆盖前 20 大客户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北美销售负责人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北美 15.5（+7.6%）；单一伙伴占比 ≤40%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第 4 周签约；第 8 周首单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亚太日本渠道恢复计划：新渠道上线、流失客户逐一回访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亚太销售负责人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亚太 6.0（回到 Q1 水平，+11.1%）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第 2 周回访清单；第 6 周新渠道上线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Legacy→Core 迁移：停售 Legacy 新增，向存量客户提供迁移包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产品营销 + 客户成功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Legacy 3.8（−24%）；迁移转化 ≥30% 存量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第 3 周迁移包就位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Growth 毛利改善：审视折扣与交付成本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Growth 产品线负责人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Growth 8.7（+8.8%），毛利率 ≥50%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第 5 周定价评审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欧洲：维持稳态并复制北美渠道打法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欧洲销售负责人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欧洲 8.9（+6.0%）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季度内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5029200"/>
          <a:ext cx="5486400" cy="1737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26480" y="5120640"/>
            <a:ext cx="5577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Microsoft YaHei"/>
              </a:rPr>
              <a:t>目标勾稽：15.5+8.9+6.0+3.1 = 33.5 = 21.0+8.7+3.8；综合毛利率测算 54.2%。拉美 3.1（+10.7%）延续小基数增长但不作为主要依赖。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附录：原始数据、口径与假设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供复核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3474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40"/>
                <a:gridCol w="1158240"/>
                <a:gridCol w="1158240"/>
              </a:tblGrid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区域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Q1 收入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Q2 收入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北美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欧洲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8.0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8.4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亚太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拉美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2.0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2.8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28.0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31.0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0" y="1645920"/>
          <a:ext cx="3840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60120"/>
                <a:gridCol w="960120"/>
                <a:gridCol w="960120"/>
              </a:tblGrid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产品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Q1 收入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Q2 收入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毛利率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Growth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7.0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8.0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48%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Legacy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28.0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31.0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52.4%（测算）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0" y="1645920"/>
            <a:ext cx="3566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Microsoft YaHei"/>
              </a:rPr>
              <a:t>• 口径：金额为百万元；环比 = Q2/Q1 − 1；综合毛利率 = Σ(收入×毛利率)/Σ收入。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Microsoft YaHei"/>
              </a:rPr>
              <a:t>• 事实（题内）：北美增长主要来自两个渠道伙伴；亚太日本渠道更换流失 1.1；Legacy 未来两个季度停止新增销售；Q3 要求收入环比 ≥8% 且毛利率 ≥52%。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Microsoft YaHei"/>
              </a:rPr>
              <a:t>• 假设/测算：Q1 综合毛利率 50.6% 假设各产品毛利率与 Q2 相同；Q3 区域与产品目标为建议值，非承诺。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Microsoft YaHei"/>
              </a:rPr>
              <a:t>• 未知：各区域毛利率、渠道伙伴名称与合同期限、亚太流失客户是否可挽回。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Microsoft YaHei"/>
              </a:rPr>
              <a:t>• 图表说明：全部柱形/条形图坐标轴从 0 开始；饼图展示毛利额构成而非收入。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