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净利润：GAAP vs 归一化 vs 预期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十亿美元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GAAP 净利润</c:v>
                </c:pt>
                <c:pt idx="1">
                  <c:v>归一化净利润（测算）</c:v>
                </c:pt>
                <c:pt idx="2">
                  <c:v>一致预期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3.4</c:v>
                </c:pt>
                <c:pt idx="2">
                  <c:v>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收入：实际、指引区间与一致预期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Sheet1!$A$2:$A$6</c:f>
              <c:strCache>
                <c:ptCount val="5"/>
                <c:pt idx="0">
                  <c:v>Q4 实际</c:v>
                </c:pt>
                <c:pt idx="1">
                  <c:v>下季度指引低端</c:v>
                </c:pt>
                <c:pt idx="2">
                  <c:v>下季度指引中值</c:v>
                </c:pt>
                <c:pt idx="3">
                  <c:v>下季度指引高端</c:v>
                </c:pt>
                <c:pt idx="4">
                  <c:v>下季度一致预期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12.4</c:v>
                </c:pt>
                <c:pt idx="1">
                  <c:v>12.9</c:v>
                </c:pt>
                <c:pt idx="2">
                  <c:v>13.2</c:v>
                </c:pt>
                <c:pt idx="3">
                  <c:v>13.5</c:v>
                </c:pt>
                <c:pt idx="4">
                  <c:v>12.8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金额单位：十亿美元；每股口径：美元。所有自算数字标“测算”。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归一化净利润 = GAAP 5.6 − 税后处置收益 2.2 = 3.4。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指引区间：13.2−0.3=12.9；13.2+0.3=13.5。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所有估值数字均为测算；未引用外部信息。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205 = 178×1.15（测算）；160 = 178×0.9（测算）。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Lumina Memory Q4：为什么“超预期”之后股价下跌 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投资者更新 | 评级：持有 | 目标价 182 美元（测算，+2.2%）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15544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评级：持有</a:t>
            </a:r>
          </a:p>
          <a:p>
            <a:r>
              <a:rPr sz="1600" b="1">
                <a:solidFill>
                  <a:srgbClr val="FFFFFF"/>
                </a:solidFill>
                <a:latin typeface="Microsoft YaHei"/>
              </a:rPr>
              <a:t>目标价 182 美元（测算）</a:t>
            </a:r>
          </a:p>
          <a:p>
            <a:r>
              <a:rPr sz="1600" b="1">
                <a:solidFill>
                  <a:srgbClr val="FFFFFF"/>
                </a:solidFill>
                <a:latin typeface="Microsoft YaHei"/>
              </a:rPr>
              <a:t>当前 178 美元，隐含回报 +2.2%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表面：收入 12.4 vs 预期 12.0（+3.3%）、营业利润 4.1 vs 3.8、GAAP 净利润 5.6 vs 3.5。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实质：GAAP 净利润含 2.2 的处置子公司税后收益；归一化净利润 3.4（测算）低于一致预期 3.5（−2.9%）。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结构：出货量同比 +4%，远低于公司指引 +8%~+10%；超预期由平均售价 +10%（预期约 +7%）驱动，属价格而非需求量。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解释未验证：管理层称出货偏弱源于客户验收延后，目前无独立验证。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62626"/>
                </a:solidFill>
                <a:latin typeface="Microsoft YaHei"/>
              </a:rPr>
              <a:t>• 结论：市场对“归一化未达预期 + 量弱价强 + 解释待证”给出折价是合理的；估值框架下回报 +2.2%，维持持有。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业绩质量：剔除一次性收益后，盈利并未超预期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单位：十亿美元；每股：美元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0584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实际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一致预期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差异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由 ASP +10% 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56.0%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+1.0pp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营业利润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经营层面超预期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GAAP 净利润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+60.0%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含处置收益 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处置子公司税后收益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一次性，剔除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归一化净利润（测算）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−2.9%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=5.6−2.2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GAAP EPS / 归一化 EPS（测算）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5.60 / 3.40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归一化 −2.9%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摊薄股数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645920"/>
          <a:ext cx="42062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50292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量价拆分：出货量 +4%（指引 +8%~+10%），ASP +10%（预期约 +7%）——收入超预期约由价格贡献。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营业利润超预期 0.3 是真实的经营改善（毛利率 +1pp），但不足以抵消“量未达指引”对未来的含义。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指引：下季度收入与毛利率指引高于预期，但量的可信度是关键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单位：十亿美元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64592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1005840"/>
                <a:gridCol w="118872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指引项目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公司指引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一致预期 / 本季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解读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下季度收入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13.2 ± 0.3（12.9–13.5）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低端亦高于预期 +0.8%；中值 +3.1%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下季度毛利率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58% ± 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本季 56.0%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环比改善 +2pp（中值）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出货量解释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客户验收延后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无独立验证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若属实应在下季度体现为量回补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43891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指引整体正面，但其可信度取决于“验收延后”是否在下季度转化为出货量回补。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验证点：下季度出货量同比是否回到 +8% 以上；ASP 涨幅是否维持。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62626"/>
                </a:solidFill>
                <a:latin typeface="Microsoft YaHei"/>
              </a:rPr>
              <a:t>• 若量继续偏弱而 ASP 走高，需重新评估收入质量与客户需求。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估值与评级：目标价 182 美元（测算），隐含回报 +2.2% → 持有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框架：EV = CY2027 营业利润 × 目标倍数；股权价值 = EV + 净现金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6400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828800"/>
              </a:tblGrid>
              <a:tr h="447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步骤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输入 / 计算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结果（测算）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CY2027 营业利润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分析师给定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22.0 十亿美元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目标 EV/营业利润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给定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8.0×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企业价值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22.0 × 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加：净现金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给定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+6.0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股权价值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176.0 + 6.0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182.0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每股目标价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182.0 / 1.0 十亿股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182 美元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隐含回报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182 / 178 − 1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+2.2%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评级规则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&gt;15% 买入；−10%~+15% 持有；&lt;−10% 卖出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持有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40880" y="164592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51560"/>
                <a:gridCol w="1051560"/>
                <a:gridCol w="109728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倍数敏感性（测算）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7.0×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8.0×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9.0×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股权价值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目标价（美元）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隐含回报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−10.1%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+2.2%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+14.6%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对应评级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卖出（临界）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持有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Microsoft YaHei"/>
                        </a:rPr>
                        <a:t>持有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438912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Microsoft YaHei"/>
              </a:rPr>
              <a:t>评级对倍数敏感：7× 即触及卖出边界，9× 仍在持有区间；在量的可信度确认前，不具备上调至买入的条件。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风险、催化剂与观察清单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Microsoft YaHei"/>
              </a:rPr>
              <a:t>维持持有的条件与改变评级的触发点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943600"/>
                <a:gridCol w="420624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因素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对判断的影响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上行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下季度出货量回补至同比 +8% 以上，验证“验收延后”解释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收入质量改善，可考虑上调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上行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毛利率达到 58%+ 且 ASP 维持 +10%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CY2027 营业利润 22 的可实现性提升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下行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量继续偏弱、ASP 见顶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需求疑虑成立，估值倍数承压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下行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一次性收益掩盖的盈利趋势被市场进一步定价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归一化 EPS 3.40 成为新基准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下行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管理层解释缺乏独立验证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2626"/>
                          </a:solidFill>
                          <a:latin typeface="Microsoft YaHei"/>
                        </a:rPr>
                        <a:t>可信度折价延续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评级触发：目标回报 &gt;15%（对应目标价 ≥205 美元）上调买入；&lt;−10%（≤160 美元）下调卖出。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观察清单：下季度出货量同比、ASP 同比、毛利率是否落在 57%–59%、是否有独立渠道数据验证验收延后。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62626"/>
                </a:solidFill>
                <a:latin typeface="Microsoft YaHei"/>
              </a:rPr>
              <a:t>• 口径：本页及全篮所有自算数字标“测算”；未使用题外信息。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