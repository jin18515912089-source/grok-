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实际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收入</c:v>
                </c:pt>
                <c:pt idx="1">
                  <c:v>营业利润</c:v>
                </c:pt>
                <c:pt idx="2">
                  <c:v>GAAP NI</c:v>
                </c:pt>
                <c:pt idx="3">
                  <c:v>归一化 NI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12.4</c:v>
                </c:pt>
                <c:pt idx="1">
                  <c:v>4.1</c:v>
                </c:pt>
                <c:pt idx="2">
                  <c:v>5.6</c:v>
                </c:pt>
                <c:pt idx="3">
                  <c:v>3.4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一致预期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收入</c:v>
                </c:pt>
                <c:pt idx="1">
                  <c:v>营业利润</c:v>
                </c:pt>
                <c:pt idx="2">
                  <c:v>GAAP NI</c:v>
                </c:pt>
                <c:pt idx="3">
                  <c:v>归一化 NI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12.0</c:v>
                </c:pt>
                <c:pt idx="1">
                  <c:v>3.8</c:v>
                </c:pt>
                <c:pt idx="2">
                  <c:v>3.5</c:v>
                </c:pt>
                <c:pt idx="3">
                  <c:v>3.5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指引下限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下季收入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12.9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指引中点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下季收入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13.2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指引上限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下季收入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13.5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一致预期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下季收入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12.8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INVESTOR UPDATE ｜ 虚构公司 Lumina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表面超预期，质量不够支撑估值上修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收入 12.4 vs 12.0（测算 beat +3.3%）；毛利率 56.0% vs 55.0%（+1.0 个百分点）；营业利润 4.1 vs 3.8（测算 +7.9%）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GAAP 净利润 5.6 vs 3.5，含处置子公司税后收益 2.2；归一化净利润测算 5.6−2.2=3.4，低于一致预期 3.5（测算 miss 0.1）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出货同比 +4% vs 公司指引 +8% 至 +10%；ASP 同比 +10% vs 市场约 +7%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业绩后股价 −7%。评级：持有；目标价测算 182 美元 vs 现价 178（测算上行 +2.2%）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Lumina Memory Q4 投资者更新 ｜ 测算数字已标注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379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业绩质量：一次性收益必须从归一化盈利中剔除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6E5"/>
                </a:solidFill>
                <a:latin typeface="Microsoft YaHei"/>
                <a:ea typeface="Microsoft YaHei"/>
                <a:cs typeface="Microsoft YaHei"/>
              </a:rPr>
              <a:t>管理层称出货偏弱来自客户验收延后——题内注明尚未独立验证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97280"/>
          <a:ext cx="60350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1508760"/>
                <a:gridCol w="1508760"/>
                <a:gridCol w="150876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anchor="ctr"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</a:t>
                      </a:r>
                    </a:p>
                  </a:txBody>
                  <a:tcPr anchor="ctr"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一致预期</a:t>
                      </a:r>
                    </a:p>
                  </a:txBody>
                  <a:tcPr anchor="ctr"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差额</a:t>
                      </a:r>
                    </a:p>
                  </a:txBody>
                  <a:tcPr anchor="ctr">
                    <a:solidFill>
                      <a:srgbClr val="0F2C5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收入（十亿美元）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+0.4 / +3.3%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毛利率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56.0%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55.0%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+1.0pp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营业利润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+0.3 / +7.9%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GAAP 净利润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5.6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3.5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含一次性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归一化净利润（测算）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miss 0.1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583680" y="1051560"/>
          <a:ext cx="521208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4297680"/>
            <a:ext cx="6035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归一化 EPS 测算 3.4 美元（摊薄 1.0 十亿股）。GAAP EPS 5.6 不可用于盈利质量。出货 +4% 低于指引 4–6 个百分点。电话会叙事不能当订单恢复的证据。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Lumina Memory Q4 投资者更新 ｜ 测算数字已标注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5379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指引：中点高于一致预期，但量的可信度被本季出货 miss 削弱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下季收入指引 13.2±0.3，即 12.9–13.5；一致预期 12.8。中点 13.2 相对一致预期测算 +0.4（+3.1%）。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毛利率指引 58%±1 个百分点，即 57%–59%，中点高于 Q4 实际 56.0%。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解读：指引中点高于一致预期，但量的指引可信度被本季出货 miss 削弱。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011680" y="3200400"/>
          <a:ext cx="804672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Lumina Memory Q4 投资者更新 ｜ 测算数字已标注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379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估值框架（仅用给定输入）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6E5"/>
                </a:solidFill>
                <a:latin typeface="Microsoft YaHei"/>
                <a:ea typeface="Microsoft YaHei"/>
                <a:cs typeface="Microsoft YaHei"/>
              </a:rPr>
              <a:t>不得引用外部倍数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CY2027 营业利润 22 十亿美元（给定）。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目标 EV/营业利润 8.0× → EV 测算 176。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预计净现金 6 → 股权价值测算 182。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摊薄 1.0 十亿股 → 目标价测算 182 美元。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现价 178；目标回报测算 (182−178)/178 = +2.2%。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Lumina Memory Q4 投资者更新 ｜ 测算数字已标注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379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评级：持有 ｜ 风险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6E5"/>
                </a:solidFill>
                <a:latin typeface="Microsoft YaHei"/>
                <a:ea typeface="Microsoft YaHei"/>
                <a:cs typeface="Microsoft YaHei"/>
              </a:rPr>
              <a:t>规则：&gt;15% 买入；−10% 至 +15% 持有；&lt;−10% 卖出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+2.2% → 持有。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为何下跌：市场给价的是量与归一化盈利，不是含 2.2 的 GAAP。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风险：验收延后若为需求问题而非时点问题；出货持续低于指引；毛利率指引 58% 依赖未知组合。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催化剂未知（题内无后续独立验证时点）。处置收益已是税后，直接从 GAAP 净利润扣除。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Lumina Memory Q4 投资者更新 ｜ 测算数字已标注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379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